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1188720" cy="1188720"/>
          </a:xfrm>
          <a:prstGeom prst="roundRect">
            <a:avLst/>
          </a:prstGeom>
          <a:solidFill>
            <a:srgbClr val="0D6F69"/>
          </a:solidFill>
          <a:ln w="254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8FAFC"/>
                </a:solidFill>
              </a:defRPr>
            </a:pPr>
            <a:r>
              <a:t>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4279392" cy="347472"/>
          </a:xfrm>
          <a:prstGeom prst="roundRect">
            <a:avLst/>
          </a:prstGeom>
          <a:solidFill>
            <a:srgbClr val="0D6F69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 tIns="36576" bIns="36576"/>
          <a:lstStyle/>
          <a:p>
            <a:pPr algn="ctr">
              <a:defRPr sz="1000" b="1">
                <a:solidFill>
                  <a:srgbClr val="2DD4BF"/>
                </a:solidFill>
              </a:defRPr>
            </a:pPr>
            <a:r>
              <a:t>PRODUCTION-READY ARCHITECTURE · V1.4.0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  <a:latin typeface="Arial"/>
              </a:defRPr>
            </a:pPr>
            <a:r>
              <a:t>Karobar Saathi  (کاروبار ساتھی)</a:t>
            </a:r>
          </a:p>
          <a:p>
            <a:pPr>
              <a:spcBef>
                <a:spcPts val="1200"/>
              </a:spcBef>
              <a:defRPr sz="2200" b="1">
                <a:solidFill>
                  <a:srgbClr val="2DD4BF"/>
                </a:solidFill>
              </a:defRPr>
            </a:pPr>
            <a:r>
              <a:t>Spoken Transactions → Confirmed Ledger → Explainable Financial Evidence</a:t>
            </a:r>
          </a:p>
          <a:p>
            <a:pPr>
              <a:spcBef>
                <a:spcPts val="1200"/>
              </a:spcBef>
              <a:defRPr sz="1500">
                <a:solidFill>
                  <a:srgbClr val="94A3B8"/>
                </a:solidFill>
              </a:defRPr>
            </a:pPr>
            <a:r>
              <a:t>Bridging the $180B informal economy with AI voice bookkeeping and sovereign credit profiles for 5 Million+ Pakistani micro-merchants.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303520"/>
            <a:ext cx="10728655" cy="1005840"/>
          </a:xfrm>
          <a:prstGeom prst="roundRect">
            <a:avLst/>
          </a:prstGeom>
          <a:solidFill>
            <a:srgbClr val="121A2A"/>
          </a:solidFill>
          <a:ln w="15240">
            <a:solidFill>
              <a:srgbClr val="1E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CORE TECH STACK: Flutter (Riverpod) · FastAPI · Groq Whisper-large-v3 · Vernacular LLM Parser · SQLite</a:t>
            </a:r>
          </a:p>
          <a:p>
            <a:pPr>
              <a:spcBef>
                <a:spcPts val="400"/>
              </a:spcBef>
              <a:defRPr sz="1100">
                <a:solidFill>
                  <a:srgbClr val="10B981"/>
                </a:solidFill>
              </a:defRPr>
            </a:pPr>
            <a:r>
              <a:t>STATUS: Live Backend &amp; APK Release v1.4.0  |  TARGET: Chai Stalls, Kirana Stores, Home Tailors, Khokhas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3273552" cy="347472"/>
          </a:xfrm>
          <a:prstGeom prst="roundRect">
            <a:avLst/>
          </a:prstGeom>
          <a:solidFill>
            <a:srgbClr val="320F19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 tIns="36576" bIns="36576"/>
          <a:lstStyle/>
          <a:p>
            <a:pPr algn="ctr">
              <a:defRPr sz="1000" b="1">
                <a:solidFill>
                  <a:srgbClr val="F43F5E"/>
                </a:solidFill>
              </a:defRPr>
            </a:pPr>
            <a:r>
              <a:t>MARKET REALITY &amp; PAIN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The Invisible 5 Million &amp; The Unbanked Trap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Micro-businesses form the economic spine of Pakistan, yet 90%+ operate completely invisible to formal finance.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3383280" cy="3108960"/>
          </a:xfrm>
          <a:prstGeom prst="roundRect">
            <a:avLst/>
          </a:prstGeom>
          <a:solidFill>
            <a:srgbClr val="121A2A"/>
          </a:solidFill>
          <a:ln w="15240">
            <a:solidFill>
              <a:srgbClr val="1E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3600" b="1">
                <a:solidFill>
                  <a:srgbClr val="F59E0B"/>
                </a:solidFill>
              </a:defRPr>
            </a:pPr>
            <a:r>
              <a:t>5.2M+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Informal Micro-Enterprises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Roadside stalls, kirana stores, home tailors, and tea stalls handling daily cash volume without bank accounts or formal registrations.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194560"/>
            <a:ext cx="3383280" cy="3108960"/>
          </a:xfrm>
          <a:prstGeom prst="roundRect">
            <a:avLst/>
          </a:prstGeom>
          <a:solidFill>
            <a:srgbClr val="121A2A"/>
          </a:solidFill>
          <a:ln w="15240">
            <a:solidFill>
              <a:srgbClr val="1E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3600" b="1">
                <a:solidFill>
                  <a:srgbClr val="F43F5E"/>
                </a:solidFill>
              </a:defRPr>
            </a:pPr>
            <a:r>
              <a:t>93%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Paper &amp; Memory Only (Bahi Khata)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Traditional accounting software fails. Typing on touchscreens in English or Urdu keyboards after 14 hours of shop work is slow and exhausting.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194560"/>
            <a:ext cx="3383280" cy="3108960"/>
          </a:xfrm>
          <a:prstGeom prst="roundRect">
            <a:avLst/>
          </a:prstGeom>
          <a:solidFill>
            <a:srgbClr val="121A2A"/>
          </a:solidFill>
          <a:ln w="15240">
            <a:solidFill>
              <a:srgbClr val="1E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3600" b="1">
                <a:solidFill>
                  <a:srgbClr val="6366F1"/>
                </a:solidFill>
              </a:defRPr>
            </a:pPr>
            <a:r>
              <a:t>25-30%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Monthly Predatory Loan Rates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Without verified financial history, commercial banks reject micro-loans. Shopkeepers are trapped borrowing from informal local moneylenders.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698480" cy="822960"/>
          </a:xfrm>
          <a:prstGeom prst="roundRect">
            <a:avLst/>
          </a:prstGeom>
          <a:solidFill>
            <a:srgbClr val="1E140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01168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THE CORE BOTTLENECK: Banks don't lend without evidence. Shopkeepers can't generate evidence without unbearable bookkeeping friction.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865376" cy="347472"/>
          </a:xfrm>
          <a:prstGeom prst="roundRect">
            <a:avLst/>
          </a:prstGeom>
          <a:solidFill>
            <a:srgbClr val="0D6F69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 tIns="36576" bIns="36576"/>
          <a:lstStyle/>
          <a:p>
            <a:pPr algn="ctr">
              <a:defRPr sz="1000" b="1">
                <a:solidFill>
                  <a:srgbClr val="2DD4BF"/>
                </a:solidFill>
              </a:defRPr>
            </a:pPr>
            <a:r>
              <a:t>THE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Zero Typing. Zero Complexity. Just Speak in Urdu.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Karobar Saathi replaces the tedious bahi khata with an AI assistant that understands Pakistani bazaar vernacular.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6217920" cy="1188720"/>
          </a:xfrm>
          <a:prstGeom prst="roundRect">
            <a:avLst/>
          </a:prstGeom>
          <a:solidFill>
            <a:srgbClr val="121A2A"/>
          </a:solidFill>
          <a:ln w="15240">
            <a:solidFill>
              <a:srgbClr val="1E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/>
          <a:lstStyle/>
          <a:p>
            <a:pPr algn="ctr">
              <a:defRPr sz="1400" b="1">
                <a:solidFill>
                  <a:srgbClr val="2DD4BF"/>
                </a:solidFill>
              </a:defRPr>
            </a:pPr>
            <a:r>
              <a:t>1. Natural Voice-to-Ledger (5 Seconds a Day)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Speak at closing time. Groq Whisper-v3 + LLM parse complex multi-item sales and expenses in one breath with zero typing.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66160"/>
            <a:ext cx="6217920" cy="1188720"/>
          </a:xfrm>
          <a:prstGeom prst="roundRect">
            <a:avLst/>
          </a:prstGeom>
          <a:solidFill>
            <a:srgbClr val="121A2A"/>
          </a:solidFill>
          <a:ln w="15240">
            <a:solidFill>
              <a:srgbClr val="1E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2. Hallucination-Proof Roman Urdu Clarification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Never invents numbers. If ambiguous (e.g. '3000 diye'), prompts the shopkeeper: 'Bikri ki amount kya hai ya kisko diye?' before writing to disk.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937760"/>
            <a:ext cx="6217920" cy="1188720"/>
          </a:xfrm>
          <a:prstGeom prst="roundRect">
            <a:avLst/>
          </a:prstGeom>
          <a:solidFill>
            <a:srgbClr val="121A2A"/>
          </a:solidFill>
          <a:ln w="15240">
            <a:solidFill>
              <a:srgbClr val="1E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/>
          <a:lstStyle/>
          <a:p>
            <a:pPr algn="ctr">
              <a:defRPr sz="1400" b="1">
                <a:solidFill>
                  <a:srgbClr val="6366F1"/>
                </a:solidFill>
              </a:defRPr>
            </a:pPr>
            <a:r>
              <a:t>3. Sovereign, Consent-Gated Evidence Engine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Transforms 30 days of daily entries into underwriting evidence (sales volatility, cash runway) for microfinance banks — with instant one-tap revocation.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2194560"/>
            <a:ext cx="4114800" cy="3931920"/>
          </a:xfrm>
          <a:prstGeom prst="roundRect">
            <a:avLst/>
          </a:prstGeom>
          <a:solidFill>
            <a:srgbClr val="121A2A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The Shopkeeper Flow</a:t>
            </a:r>
          </a:p>
          <a:p>
            <a:pPr>
              <a:spcBef>
                <a:spcPts val="800"/>
              </a:spcBef>
              <a:defRPr sz="1200" b="1">
                <a:solidFill>
                  <a:srgbClr val="2DD4BF"/>
                </a:solidFill>
              </a:defRPr>
            </a:pPr>
            <a:r>
              <a:t>🎙️ Tap Mic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Shopkeeper records voice note in Urdu/Roman Urdu.</a:t>
            </a:r>
          </a:p>
          <a:p>
            <a:pPr>
              <a:spcBef>
                <a:spcPts val="800"/>
              </a:spcBef>
              <a:defRPr sz="1200" b="1">
                <a:solidFill>
                  <a:srgbClr val="2DD4BF"/>
                </a:solidFill>
              </a:defRPr>
            </a:pPr>
            <a:r>
              <a:t>⚡ 1.2s Transcription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Hosted Whisper-large-v3 converts voice to text.</a:t>
            </a:r>
          </a:p>
          <a:p>
            <a:pPr>
              <a:spcBef>
                <a:spcPts val="800"/>
              </a:spcBef>
              <a:defRPr sz="1200" b="1">
                <a:solidFill>
                  <a:srgbClr val="2DD4BF"/>
                </a:solidFill>
              </a:defRPr>
            </a:pPr>
            <a:r>
              <a:t>🧠 Vernacular Parser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Pakistani bazaar terms extracted into JSON schema.</a:t>
            </a:r>
          </a:p>
          <a:p>
            <a:pPr>
              <a:spcBef>
                <a:spcPts val="800"/>
              </a:spcBef>
              <a:defRPr sz="1200" b="1">
                <a:solidFill>
                  <a:srgbClr val="2DD4BF"/>
                </a:solidFill>
              </a:defRPr>
            </a:pPr>
            <a:r>
              <a:t>📝 One-Tap Confirm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Visual sheet shows sale/purchase before writing to ledger.</a:t>
            </a:r>
          </a:p>
          <a:p>
            <a:pPr>
              <a:spcBef>
                <a:spcPts val="800"/>
              </a:spcBef>
              <a:defRPr sz="1200" b="1">
                <a:solidFill>
                  <a:srgbClr val="2DD4BF"/>
                </a:solidFill>
              </a:defRPr>
            </a:pPr>
            <a:r>
              <a:t>📊 Instant Profit Card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Net profit and 7-day sales trend update automatically.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770632" cy="347472"/>
          </a:xfrm>
          <a:prstGeom prst="roundRect">
            <a:avLst/>
          </a:prstGeom>
          <a:solidFill>
            <a:srgbClr val="1919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 tIns="36576" bIns="36576"/>
          <a:lstStyle/>
          <a:p>
            <a:pPr algn="ctr">
              <a:defRPr sz="1000" b="1">
                <a:solidFill>
                  <a:srgbClr val="6366F1"/>
                </a:solidFill>
              </a:defRPr>
            </a:pPr>
            <a:r>
              <a:t>FULL-STACK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Engineered for Low-End Android &amp; Slow Connections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A resilient three-tier pipeline connecting shopkeeper smartphones to institutional lending APIs.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728655" cy="1188720"/>
          </a:xfrm>
          <a:prstGeom prst="roundRect">
            <a:avLst/>
          </a:prstGeom>
          <a:solidFill>
            <a:srgbClr val="121A2A"/>
          </a:solidFill>
          <a:ln w="15240">
            <a:solidFill>
              <a:srgbClr val="1E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300" b="1">
                <a:solidFill>
                  <a:srgbClr val="2DD4BF"/>
                </a:solidFill>
              </a:defRPr>
            </a:pPr>
            <a:r>
              <a:t>LAYER 1: PRESENTATION &amp; RECORDING (FLUTTER APP)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State-managed with Riverpod. WhatsApp-style live waveform recording (record: ^5.2.1), haptic feedback, bilingual EN/UR with full RTL layout, and 150s cold-start tolerance.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</a:defRPr>
            </a:pPr>
            <a:r>
              <a:t>Tech: Flutter 3.x · Riverpod · record ^5.2.1 · Urdu RTL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66160"/>
            <a:ext cx="10728655" cy="1188720"/>
          </a:xfrm>
          <a:prstGeom prst="roundRect">
            <a:avLst/>
          </a:prstGeom>
          <a:solidFill>
            <a:srgbClr val="121A2A"/>
          </a:solidFill>
          <a:ln w="15240">
            <a:solidFill>
              <a:srgbClr val="1E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LAYER 2: VERNACULAR AI PIPELINE (FASTAPI SERVICE)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Groq Whisper-large-v3 speech-to-text combined with specialized Pakistani bazaar LLM parser. Enforces strict JSON Schema and flags ambiguous inputs for conversational clarification.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</a:defRPr>
            </a:pPr>
            <a:r>
              <a:t>Tech: FastAPI · Groq Whisper-v3 · Groq LLM · Bazaar Glossary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937760"/>
            <a:ext cx="10728655" cy="1188720"/>
          </a:xfrm>
          <a:prstGeom prst="roundRect">
            <a:avLst/>
          </a:prstGeom>
          <a:solidFill>
            <a:srgbClr val="121A2A"/>
          </a:solidFill>
          <a:ln w="15240">
            <a:solidFill>
              <a:srgbClr val="1E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300" b="1">
                <a:solidFill>
                  <a:srgbClr val="6366F1"/>
                </a:solidFill>
              </a:defRPr>
            </a:pPr>
            <a:r>
              <a:t>LAYER 3: LEDGER STORE &amp; EVIDENCE COMPUTER (B2B API)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ACID SQLite persistence storing confirmed entries. Computes 30-day volatility (CV), cash buffer runway, and loan ranges. Protected by X-User-Consent authorization headers.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</a:defRPr>
            </a:pPr>
            <a:r>
              <a:t>Tech: SQLite · Rule Heuristics · X-User-Consent · REST API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3072384" cy="347472"/>
          </a:xfrm>
          <a:prstGeom prst="roundRect">
            <a:avLst/>
          </a:prstGeom>
          <a:solidFill>
            <a:srgbClr val="0D6F69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 tIns="36576" bIns="36576"/>
          <a:lstStyle/>
          <a:p>
            <a:pPr algn="ctr">
              <a:defRPr sz="1000" b="1">
                <a:solidFill>
                  <a:srgbClr val="2DD4BF"/>
                </a:solidFill>
              </a:defRPr>
            </a:pPr>
            <a:r>
              <a:t>PROPRIETARY AI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Deciphering Pakistani Bazaar Vernacular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Standard financial LLMs fail in street Urdu. Karobar Saathi is calibrated with a native bazaar taxonomy.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5120640" cy="868680"/>
          </a:xfrm>
          <a:prstGeom prst="roundRect">
            <a:avLst/>
          </a:prstGeom>
          <a:solidFill>
            <a:srgbClr val="121A2A"/>
          </a:solidFill>
          <a:ln w="15240">
            <a:solidFill>
              <a:srgbClr val="1E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200" b="1">
                <a:solidFill>
                  <a:srgbClr val="2DD4BF"/>
                </a:solidFill>
              </a:defRPr>
            </a:pPr>
            <a:r>
              <a:t>Sales &amp; Income  →  type: "sale"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"Bikri", "Kamai", "Kamaya", "Aamdani", "Becha", "Ki sale hui"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5120640" cy="868680"/>
          </a:xfrm>
          <a:prstGeom prst="roundRect">
            <a:avLst/>
          </a:prstGeom>
          <a:solidFill>
            <a:srgbClr val="121A2A"/>
          </a:solidFill>
          <a:ln w="15240">
            <a:solidFill>
              <a:srgbClr val="1E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Stock Purchases  →  type: "purchase"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"Maal", "Stock liya", "Khareeda", "Samaan", "Cheeni doodh liya"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5120640" cy="868680"/>
          </a:xfrm>
          <a:prstGeom prst="roundRect">
            <a:avLst/>
          </a:prstGeom>
          <a:solidFill>
            <a:srgbClr val="121A2A"/>
          </a:solidFill>
          <a:ln w="15240">
            <a:solidFill>
              <a:srgbClr val="1E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200" b="1">
                <a:solidFill>
                  <a:srgbClr val="F43F5E"/>
                </a:solidFill>
              </a:defRPr>
            </a:pPr>
            <a:r>
              <a:t>Expenses &amp; Bills  →  type: "expense"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"Bijli ka bill", "Dukaan ka kiraya", "Gas bill", "Committee"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212080"/>
            <a:ext cx="5120640" cy="868680"/>
          </a:xfrm>
          <a:prstGeom prst="roundRect">
            <a:avLst/>
          </a:prstGeom>
          <a:solidFill>
            <a:srgbClr val="121A2A"/>
          </a:solidFill>
          <a:ln w="15240">
            <a:solidFill>
              <a:srgbClr val="1E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200" b="1">
                <a:solidFill>
                  <a:srgbClr val="6366F1"/>
                </a:solidFill>
              </a:defRPr>
            </a:pPr>
            <a:r>
              <a:t>Withdrawals  →  type: "withdrawal"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"Ghar bheje", "Ghar ke liye nikaale", "Ghar kharch", "Udhaar diya"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194560"/>
            <a:ext cx="5212080" cy="3886200"/>
          </a:xfrm>
          <a:prstGeom prst="roundRect">
            <a:avLst/>
          </a:prstGeom>
          <a:solidFill>
            <a:srgbClr val="121A2A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Multi-Transaction Extraction in One Sentence</a:t>
            </a:r>
          </a:p>
          <a:p>
            <a:pPr>
              <a:spcBef>
                <a:spcPts val="800"/>
              </a:spcBef>
              <a:defRPr sz="1200">
                <a:solidFill>
                  <a:srgbClr val="F59E0B"/>
                </a:solidFill>
              </a:defRPr>
            </a:pPr>
            <a:r>
              <a:t>Spoken Voice Note:</a:t>
            </a:r>
            <a:br/>
            <a:r>
              <a:t>"Aaj 6000 ki bikri hui, 2500 ka stock liya, aur 500 kiraya diya."</a:t>
            </a:r>
          </a:p>
          <a:p>
            <a:pPr>
              <a:spcBef>
                <a:spcPts val="1000"/>
              </a:spcBef>
              <a:defRPr sz="1100" b="1">
                <a:solidFill>
                  <a:srgbClr val="F8FAFC"/>
                </a:solidFill>
              </a:defRPr>
            </a:pPr>
            <a:r>
              <a:t>AI Automatically Deconstructs into 3 Structured Entries: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🟢 Sale: PKR 6,000  (Category: other | Note: Aaj bikri hui)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🟠 Purchase: PKR 2,500  (Category: stock | Note: Stock liya)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🔴 Expense: PKR 500  (Category: rent | Note: Kiraya diya)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670048" cy="347472"/>
          </a:xfrm>
          <a:prstGeom prst="roundRect">
            <a:avLst/>
          </a:prstGeom>
          <a:solidFill>
            <a:srgbClr val="28190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 tIns="36576" bIns="36576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TRUST &amp; DATA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The Zero-Hallucination Safeguard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In financial bookkeeping, AI hallucinations corrupt balance sheets. Karobar Saathi never guesses.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5120640" cy="3931920"/>
          </a:xfrm>
          <a:prstGeom prst="roundRect">
            <a:avLst/>
          </a:prstGeom>
          <a:solidFill>
            <a:srgbClr val="121A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The Ambiguous Input: "3000 diye"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A shopkeeper says: '3000 diye' (Gave 3000).</a:t>
            </a:r>
            <a:br/>
            <a:r>
              <a:t>Did they buy inventory? Pay shop rent? Give cash to family? Pay back a loan?</a:t>
            </a:r>
          </a:p>
          <a:p>
            <a:pPr>
              <a:spcBef>
                <a:spcPts val="1000"/>
              </a:spcBef>
              <a:defRPr sz="1100">
                <a:solidFill>
                  <a:srgbClr val="F43F5E"/>
                </a:solidFill>
              </a:defRPr>
            </a:pPr>
            <a:r>
              <a:t>❌ Generic AI Models:</a:t>
            </a:r>
            <a:br/>
            <a:r>
              <a:t>Guesses 'Expense: PKR 3,000' (Silently corrupts the ledger).</a:t>
            </a:r>
          </a:p>
          <a:p>
            <a:pPr>
              <a:spcBef>
                <a:spcPts val="1000"/>
              </a:spcBef>
              <a:defRPr sz="1100">
                <a:solidFill>
                  <a:srgbClr val="10B981"/>
                </a:solidFill>
              </a:defRPr>
            </a:pPr>
            <a:r>
              <a:t>✔️ Karobar Saathi Engine:</a:t>
            </a:r>
            <a:br/>
            <a:r>
              <a:t>Flags entry_type: 'unclear' &amp; disables saving until confirmed.</a:t>
            </a:r>
          </a:p>
          <a:p>
            <a:pPr>
              <a:spcBef>
                <a:spcPts val="1000"/>
              </a:spcBef>
              <a:defRPr sz="1200" b="1">
                <a:solidFill>
                  <a:srgbClr val="2DD4BF"/>
                </a:solidFill>
              </a:defRPr>
            </a:pPr>
            <a:r>
              <a:t>Conversational Clarification Prompt:</a:t>
            </a:r>
            <a:br/>
            <a:r>
              <a:t>"Bikri ki amount kya hai ya ye paise kisko diye the?"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194560"/>
            <a:ext cx="5212080" cy="3931920"/>
          </a:xfrm>
          <a:prstGeom prst="roundRect">
            <a:avLst/>
          </a:prstGeom>
          <a:solidFill>
            <a:srgbClr val="121A2A"/>
          </a:solidFill>
          <a:ln w="15240">
            <a:solidFill>
              <a:srgbClr val="1E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Three Principles of Financial Data Integrity</a:t>
            </a:r>
          </a:p>
          <a:p>
            <a:pPr>
              <a:spcBef>
                <a:spcPts val="1000"/>
              </a:spcBef>
              <a:defRPr sz="1300" b="1">
                <a:solidFill>
                  <a:srgbClr val="2DD4BF"/>
                </a:solidFill>
              </a:defRPr>
            </a:pPr>
            <a:r>
              <a:t>1. Strict Structural Output Enums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Leverages JSON schema enforcement: entry_type must strictly be one of [sale, purchase, expense, withdrawal, unclear].</a:t>
            </a:r>
          </a:p>
          <a:p>
            <a:pPr>
              <a:spcBef>
                <a:spcPts val="1000"/>
              </a:spcBef>
              <a:defRPr sz="1300" b="1">
                <a:solidFill>
                  <a:srgbClr val="2DD4BF"/>
                </a:solidFill>
              </a:defRPr>
            </a:pPr>
            <a:r>
              <a:t>2. Human-in-the-Loop Confirmation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Every extracted transaction renders an editable visual card. The shopkeeper reviews amount and category before it touches the database.</a:t>
            </a:r>
          </a:p>
          <a:p>
            <a:pPr>
              <a:spcBef>
                <a:spcPts val="1000"/>
              </a:spcBef>
              <a:defRPr sz="1300" b="1">
                <a:solidFill>
                  <a:srgbClr val="2DD4BF"/>
                </a:solidFill>
              </a:defRPr>
            </a:pPr>
            <a:r>
              <a:t>3. Spoken Audio Audit Trail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Original spoken audio transcripts are permanently bound to the confirmed ledger entry, preserving an immutable forensic paper trail.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3172968" cy="347472"/>
          </a:xfrm>
          <a:prstGeom prst="roundRect">
            <a:avLst/>
          </a:prstGeom>
          <a:solidFill>
            <a:srgbClr val="0D6F69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 tIns="36576" bIns="36576"/>
          <a:lstStyle/>
          <a:p>
            <a:pPr algn="ctr">
              <a:defRPr sz="1000" b="1">
                <a:solidFill>
                  <a:srgbClr val="2DD4BF"/>
                </a:solidFill>
              </a:defRPr>
            </a:pPr>
            <a:r>
              <a:t>USER-CENTRIC PRODUCT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Crafted for Urdu Speakers &amp; Low-Literacy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Intuitive visual hierarchy, full bilingual localization, and WhatsApp-inspired haptic voice controls.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2514600" cy="3931920"/>
          </a:xfrm>
          <a:prstGeom prst="roundRect">
            <a:avLst/>
          </a:prstGeom>
          <a:solidFill>
            <a:srgbClr val="121A2A"/>
          </a:solidFill>
          <a:ln w="15240">
            <a:solidFill>
              <a:srgbClr val="1E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400" b="1">
                <a:solidFill>
                  <a:srgbClr val="2DD4BF"/>
                </a:solidFill>
              </a:defRPr>
            </a:pPr>
            <a:r>
              <a:t>1. Profile Picker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Choose shopkeeper profile (Ahmad Chai Wala, Bibi Naseem, Fatima Silai). Session persists across restarts.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931920"/>
            <a:ext cx="2240280" cy="2011680"/>
          </a:xfrm>
          <a:prstGeom prst="roundRect">
            <a:avLst/>
          </a:prstGeom>
          <a:solidFill>
            <a:srgbClr val="0C121E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📱 Live Screenshot</a:t>
            </a:r>
            <a:br/>
            <a:r>
              <a:t>(Profile Picker)</a:t>
            </a:r>
            <a:br/>
            <a:r>
              <a:t>Verified in APK v1.4.0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194560"/>
            <a:ext cx="2514600" cy="3931920"/>
          </a:xfrm>
          <a:prstGeom prst="roundRect">
            <a:avLst/>
          </a:prstGeom>
          <a:solidFill>
            <a:srgbClr val="121A2A"/>
          </a:solidFill>
          <a:ln w="15240">
            <a:solidFill>
              <a:srgbClr val="1E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2. Daily Dashboard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Profit hero card, 7-day sales trend chart, cash buffer days, and actionable business insights.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3931920"/>
            <a:ext cx="2240280" cy="2011680"/>
          </a:xfrm>
          <a:prstGeom prst="roundRect">
            <a:avLst/>
          </a:prstGeom>
          <a:solidFill>
            <a:srgbClr val="0C121E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📱 Live Screenshot</a:t>
            </a:r>
            <a:br/>
            <a:r>
              <a:t>(Daily Dashboard)</a:t>
            </a:r>
            <a:br/>
            <a:r>
              <a:t>Verified in APK v1.4.0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194560"/>
            <a:ext cx="2514600" cy="3931920"/>
          </a:xfrm>
          <a:prstGeom prst="roundRect">
            <a:avLst/>
          </a:prstGeom>
          <a:solidFill>
            <a:srgbClr val="121A2A"/>
          </a:solidFill>
          <a:ln w="15240">
            <a:solidFill>
              <a:srgbClr val="1E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400" b="1">
                <a:solidFill>
                  <a:srgbClr val="F43F5E"/>
                </a:solidFill>
              </a:defRPr>
            </a:pPr>
            <a:r>
              <a:t>3. Transaction Sheet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Urdu RTL confirmation sheet with instant category badges and confirmation buttons.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931920"/>
            <a:ext cx="2240280" cy="2011680"/>
          </a:xfrm>
          <a:prstGeom prst="roundRect">
            <a:avLst/>
          </a:prstGeom>
          <a:solidFill>
            <a:srgbClr val="0C121E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📱 Live Screenshot</a:t>
            </a:r>
            <a:br/>
            <a:r>
              <a:t>(Transaction Sheet)</a:t>
            </a:r>
            <a:br/>
            <a:r>
              <a:t>Verified in APK v1.4.0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2194560"/>
            <a:ext cx="2514600" cy="3931920"/>
          </a:xfrm>
          <a:prstGeom prst="roundRect">
            <a:avLst/>
          </a:prstGeom>
          <a:solidFill>
            <a:srgbClr val="121A2A"/>
          </a:solidFill>
          <a:ln w="15240">
            <a:solidFill>
              <a:srgbClr val="1E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400" b="1">
                <a:solidFill>
                  <a:srgbClr val="6366F1"/>
                </a:solidFill>
              </a:defRPr>
            </a:pPr>
            <a:r>
              <a:t>4. Bahi Khata Ledger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Categorized entries with collapsed transcript, tap-to-expand forensic detail, and date filters.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3931920"/>
            <a:ext cx="2240280" cy="2011680"/>
          </a:xfrm>
          <a:prstGeom prst="roundRect">
            <a:avLst/>
          </a:prstGeom>
          <a:solidFill>
            <a:srgbClr val="0C121E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📱 Live Screenshot</a:t>
            </a:r>
            <a:br/>
            <a:r>
              <a:t>(Bahi Khata Ledger)</a:t>
            </a:r>
            <a:br/>
            <a:r>
              <a:t>Verified in APK v1.4.0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865376" cy="347472"/>
          </a:xfrm>
          <a:prstGeom prst="roundRect">
            <a:avLst/>
          </a:prstGeom>
          <a:solidFill>
            <a:srgbClr val="1919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 tIns="36576" bIns="36576"/>
          <a:lstStyle/>
          <a:p>
            <a:pPr algn="ctr">
              <a:defRPr sz="1000" b="1">
                <a:solidFill>
                  <a:srgbClr val="6366F1"/>
                </a:solidFill>
              </a:defRPr>
            </a:pPr>
            <a:r>
              <a:t>FINTECH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Converting Voice Notes into Underwriting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Microfinance banks don't have time to read thousands of ledger lines. We distill raw records into statistical credit signals.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5120640" cy="1143000"/>
          </a:xfrm>
          <a:prstGeom prst="roundRect">
            <a:avLst/>
          </a:prstGeom>
          <a:solidFill>
            <a:srgbClr val="121A2A"/>
          </a:solidFill>
          <a:ln w="15240">
            <a:solidFill>
              <a:srgbClr val="1E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300" b="1">
                <a:solidFill>
                  <a:srgbClr val="2DD4BF"/>
                </a:solidFill>
              </a:defRPr>
            </a:pPr>
            <a:r>
              <a:t>1. Transaction Consistency Index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Calculates recorded active days over 30 days. Proves operational stability and daily commercial discipline.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Formula: Active Days / 30  (Target: &gt; 80%)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5120640" cy="1143000"/>
          </a:xfrm>
          <a:prstGeom prst="roundRect">
            <a:avLst/>
          </a:prstGeom>
          <a:solidFill>
            <a:srgbClr val="121A2A"/>
          </a:solidFill>
          <a:ln w="15240">
            <a:solidFill>
              <a:srgbClr val="1E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2. Sales Volatility (Coefficient of Variation)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Evaluates week-over-week revenue variation to assess whether income is stable or wildly seasonal.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Formula: CV &lt; 0.20 = Low Risk | CV &gt; 0.40 = High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79"/>
            <a:ext cx="5120640" cy="1143000"/>
          </a:xfrm>
          <a:prstGeom prst="roundRect">
            <a:avLst/>
          </a:prstGeom>
          <a:solidFill>
            <a:srgbClr val="121A2A"/>
          </a:solidFill>
          <a:ln w="15240">
            <a:solidFill>
              <a:srgbClr val="1E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300" b="1">
                <a:solidFill>
                  <a:srgbClr val="F43F5E"/>
                </a:solidFill>
              </a:defRPr>
            </a:pPr>
            <a:r>
              <a:t>3. Net Cash Buffer Runway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Measures how many days of operating expenses are covered if revenue momentarily halts.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Formula: Net Cash / Daily Expenses = Buffer Days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94560"/>
            <a:ext cx="5212080" cy="3931920"/>
          </a:xfrm>
          <a:prstGeom prst="roundRect">
            <a:avLst/>
          </a:prstGeom>
          <a:solidFill>
            <a:srgbClr val="121A2A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Consent-Gated Evidence API Output</a:t>
            </a:r>
          </a:p>
          <a:p>
            <a:pPr>
              <a:spcBef>
                <a:spcPts val="600"/>
              </a:spcBef>
              <a:defRPr sz="950">
                <a:solidFill>
                  <a:srgbClr val="2DD4BF"/>
                </a:solidFill>
                <a:latin typeface="Consolas"/>
              </a:defRPr>
            </a:pPr>
            <a:r>
              <a:t>GET /api/v1/evidence-profile/shop_001</a:t>
            </a:r>
            <a:br/>
            <a:r>
              <a:t>Header: X-User-Consent: true</a:t>
            </a:r>
            <a:br/>
            <a:br/>
            <a:r>
              <a:t>{</a:t>
            </a:r>
            <a:br/>
            <a:r>
              <a:t>  "user_id": "shop_001",</a:t>
            </a:r>
            <a:br/>
            <a:r>
              <a:t>  "avg_daily_sales": 4250.00,</a:t>
            </a:r>
            <a:br/>
            <a:r>
              <a:t>  "sales_volatility": "low",</a:t>
            </a:r>
            <a:br/>
            <a:r>
              <a:t>  "days_with_transactions": 26,</a:t>
            </a:r>
            <a:br/>
            <a:r>
              <a:t>  "cash_buffer_days": 8,</a:t>
            </a:r>
            <a:br/>
            <a:r>
              <a:t>  "net_cash_position": 48200.00,</a:t>
            </a:r>
            <a:br/>
            <a:r>
              <a:t>  "readiness_summary": "Stable cash flow.</a:t>
            </a:r>
            <a:br/>
            <a:r>
              <a:t>    Suitable for micro-loan PKR 50,000-100,000.",</a:t>
            </a:r>
            <a:br/>
            <a:r>
              <a:t>  "explainable_factors": [</a:t>
            </a:r>
            <a:br/>
            <a:r>
              <a:t>    "Recorded transactions on 87% of days in last 30 days",</a:t>
            </a:r>
            <a:br/>
            <a:r>
              <a:t>    "Sales variance &lt; 20% week-to-week — stable pattern",</a:t>
            </a:r>
            <a:br/>
            <a:r>
              <a:t>    "Positive cash buffer: ~8 days expenses covered"</a:t>
            </a:r>
            <a:br/>
            <a:r>
              <a:t>  ]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167128" cy="347472"/>
          </a:xfrm>
          <a:prstGeom prst="roundRect">
            <a:avLst/>
          </a:prstGeom>
          <a:solidFill>
            <a:srgbClr val="28190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 tIns="36576" bIns="36576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PRIVACY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Shopkeeper Sovereignty: Consent-Gated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We refuse predatory data harvesting. The shopkeeper retains absolute legal and technical ownership of their financial records.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3383280" cy="2926080"/>
          </a:xfrm>
          <a:prstGeom prst="roundRect">
            <a:avLst/>
          </a:prstGeom>
          <a:solidFill>
            <a:srgbClr val="121A2A"/>
          </a:solidFill>
          <a:ln w="15240">
            <a:solidFill>
              <a:srgbClr val="1E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500" b="1">
                <a:solidFill>
                  <a:srgbClr val="2DD4BF"/>
                </a:solidFill>
              </a:defRPr>
            </a:pPr>
            <a:r>
              <a:t>🔐 Cryptographic Consent Gate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The Evidence API strictly requires an X-User-Consent: true header verified against user consent database state.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194560"/>
            <a:ext cx="3383280" cy="2926080"/>
          </a:xfrm>
          <a:prstGeom prst="roundRect">
            <a:avLst/>
          </a:prstGeom>
          <a:solidFill>
            <a:srgbClr val="121A2A"/>
          </a:solidFill>
          <a:ln w="15240">
            <a:solidFill>
              <a:srgbClr val="1E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⚡ One-Tap Instant Revocation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If the shopkeeper toggles consent off in the app, external API queries are immediately blocked with HTTP 403 Forbidden.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194560"/>
            <a:ext cx="3383280" cy="2926080"/>
          </a:xfrm>
          <a:prstGeom prst="roundRect">
            <a:avLst/>
          </a:prstGeom>
          <a:solidFill>
            <a:srgbClr val="121A2A"/>
          </a:solidFill>
          <a:ln w="15240">
            <a:solidFill>
              <a:srgbClr val="1E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500" b="1">
                <a:solidFill>
                  <a:srgbClr val="6366F1"/>
                </a:solidFill>
              </a:defRPr>
            </a:pPr>
            <a:r>
              <a:t>🛡️ Zero Third-Party Ad Tracking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No advertising SDKs, no behavioural trackers. Data is never shared or monetized with external brokers.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94960"/>
            <a:ext cx="10698480" cy="914400"/>
          </a:xfrm>
          <a:prstGeom prst="roundRect">
            <a:avLst/>
          </a:prstGeom>
          <a:solidFill>
            <a:srgbClr val="121A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LIVE PROTOCOL VERIFICATION (docs/VERIFICATION.md):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Revoking consent via PATCH .../consent immediately makes GET /api/v1/evidence-profile return 403 consent_required even with X-User-Consent: true.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670048" cy="347472"/>
          </a:xfrm>
          <a:prstGeom prst="roundRect">
            <a:avLst/>
          </a:prstGeom>
          <a:solidFill>
            <a:srgbClr val="0D6F69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 tIns="36576" bIns="36576"/>
          <a:lstStyle/>
          <a:p>
            <a:pPr algn="ctr">
              <a:defRPr sz="1000" b="1">
                <a:solidFill>
                  <a:srgbClr val="2DD4BF"/>
                </a:solidFill>
              </a:defRPr>
            </a:pPr>
            <a:r>
              <a:t>TARGET MARKET PERSONAS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Designed for Pakistan's Real Retail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Calibrated with 30-day realistic test datasets representing the three largest segments of informal commerce.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3383280" cy="3931920"/>
          </a:xfrm>
          <a:prstGeom prst="roundRect">
            <a:avLst/>
          </a:prstGeom>
          <a:solidFill>
            <a:srgbClr val="121A2A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☕ Ahmad Chai Wala</a:t>
            </a:r>
          </a:p>
          <a:p>
            <a:pPr>
              <a:defRPr sz="1100">
                <a:solidFill>
                  <a:srgbClr val="2DD4BF"/>
                </a:solidFill>
              </a:defRPr>
            </a:pPr>
            <a:r>
              <a:t>Tea Stall · Urban Bazaar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Daily Sales: PKR 3,000 - 5,500</a:t>
            </a:r>
            <a:br/>
            <a:r>
              <a:t>Consistency: 85% (High velocity)</a:t>
            </a:r>
            <a:br/>
            <a:r>
              <a:t>Top Costs: Milk, sugar, tea leaves, LPG</a:t>
            </a:r>
            <a:br/>
            <a:br/>
            <a:r>
              <a:t>Use Case: Needs PKR 25k working capital for tea stock during winter peak without paying loan sharks.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194560"/>
            <a:ext cx="3383280" cy="3931920"/>
          </a:xfrm>
          <a:prstGeom prst="roundRect">
            <a:avLst/>
          </a:prstGeom>
          <a:solidFill>
            <a:srgbClr val="121A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🏪 Bibi Naseem</a:t>
            </a:r>
          </a:p>
          <a:p>
            <a:pPr>
              <a:defRPr sz="1100">
                <a:solidFill>
                  <a:srgbClr val="F59E0B"/>
                </a:solidFill>
              </a:defRPr>
            </a:pPr>
            <a:r>
              <a:t>Kirana Store · Neighborhood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Daily Sales: PKR 5,000 - 9,000</a:t>
            </a:r>
            <a:br/>
            <a:r>
              <a:t>Consistency: 93% (Very consistent)</a:t>
            </a:r>
            <a:br/>
            <a:r>
              <a:t>Top Costs: Wholesale dry goods &amp; FMCG</a:t>
            </a:r>
            <a:br/>
            <a:br/>
            <a:r>
              <a:t>Use Case: Needs PKR 100k credit line to purchase wholesale rice, oil, and flour at 15% bulk discounts.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194560"/>
            <a:ext cx="3383280" cy="3931920"/>
          </a:xfrm>
          <a:prstGeom prst="roundRect">
            <a:avLst/>
          </a:prstGeom>
          <a:solidFill>
            <a:srgbClr val="121A2A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🧵 Fatima Silai</a:t>
            </a:r>
          </a:p>
          <a:p>
            <a:pPr>
              <a:defRPr sz="1100">
                <a:solidFill>
                  <a:srgbClr val="6366F1"/>
                </a:solidFill>
              </a:defRPr>
            </a:pPr>
            <a:r>
              <a:t>Home Tailor · Female Solo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Daily Sales: PKR 1,500 - 4,000</a:t>
            </a:r>
            <a:br/>
            <a:r>
              <a:t>Consistency: 72% (Seasonal spikes)</a:t>
            </a:r>
            <a:br/>
            <a:r>
              <a:t>Top Costs: Fabric, thread, machine repair</a:t>
            </a:r>
            <a:br/>
            <a:br/>
            <a:r>
              <a:t>Use Case: Home-based woman entrepreneur unable to travel to bank branches; builds credit history from her living room.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770632" cy="347472"/>
          </a:xfrm>
          <a:prstGeom prst="roundRect">
            <a:avLst/>
          </a:prstGeom>
          <a:solidFill>
            <a:srgbClr val="0D6F69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 tIns="36576" bIns="36576"/>
          <a:lstStyle/>
          <a:p>
            <a:pPr algn="ctr">
              <a:defRPr sz="1000" b="1">
                <a:solidFill>
                  <a:srgbClr val="2DD4BF"/>
                </a:solidFill>
              </a:defRPr>
            </a:pPr>
            <a:r>
              <a:t>PRODUCTION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Production-Grade Rigor &amp; Battle-Tested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Not just a prototype — backed by comprehensive test coverage, cold-start handling, and verified audio pipelines.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6217920" cy="1143000"/>
          </a:xfrm>
          <a:prstGeom prst="roundRect">
            <a:avLst/>
          </a:prstGeom>
          <a:solidFill>
            <a:srgbClr val="121A2A"/>
          </a:solidFill>
          <a:ln w="15240">
            <a:solidFill>
              <a:srgbClr val="1E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300" b="1">
                <a:solidFill>
                  <a:srgbClr val="2DD4BF"/>
                </a:solidFill>
              </a:defRPr>
            </a:pPr>
            <a:r>
              <a:t>🚀 Render Cold-Start Resilience</a:t>
            </a:r>
          </a:p>
          <a:p>
            <a:pPr>
              <a:spcBef>
                <a:spcPts val="200"/>
              </a:spcBef>
              <a:defRPr sz="1050">
                <a:solidFill>
                  <a:srgbClr val="F8FAFC"/>
                </a:solidFill>
              </a:defRPr>
            </a:pPr>
            <a:r>
              <a:t>Extended LLM call timeouts from 30s to 150s with localized 'Server waking up' messages. Keep-warm ping every 10 mins and on app resume maintains awake state.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6217920" cy="1143000"/>
          </a:xfrm>
          <a:prstGeom prst="roundRect">
            <a:avLst/>
          </a:prstGeom>
          <a:solidFill>
            <a:srgbClr val="121A2A"/>
          </a:solidFill>
          <a:ln w="15240">
            <a:solidFill>
              <a:srgbClr val="1E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🎙️ Hardware Voice-Recorder Migration (v1.4.0)</a:t>
            </a:r>
          </a:p>
          <a:p>
            <a:pPr>
              <a:spcBef>
                <a:spcPts val="200"/>
              </a:spcBef>
              <a:defRPr sz="1050">
                <a:solidFill>
                  <a:srgbClr val="F8FAFC"/>
                </a:solidFill>
              </a:defRPr>
            </a:pPr>
            <a:r>
              <a:t>Migrated to the umbrella record: ^5.2.1 package for 100% Android hardware reliability. Added optimistic recording state, haptic feedback, and 60s auto-stop.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79"/>
            <a:ext cx="6217920" cy="1143000"/>
          </a:xfrm>
          <a:prstGeom prst="roundRect">
            <a:avLst/>
          </a:prstGeom>
          <a:solidFill>
            <a:srgbClr val="121A2A"/>
          </a:solidFill>
          <a:ln w="15240">
            <a:solidFill>
              <a:srgbClr val="1E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300" b="1">
                <a:solidFill>
                  <a:srgbClr val="6366F1"/>
                </a:solidFill>
              </a:defRPr>
            </a:pPr>
            <a:r>
              <a:t>⚙️ Automated GitHub Actions CI</a:t>
            </a:r>
          </a:p>
          <a:p>
            <a:pPr>
              <a:spcBef>
                <a:spcPts val="200"/>
              </a:spcBef>
              <a:defRPr sz="1050">
                <a:solidFill>
                  <a:srgbClr val="F8FAFC"/>
                </a:solidFill>
              </a:defRPr>
            </a:pPr>
            <a:r>
              <a:t>Continuous integration runs full backend pytest suites alongside Flutter analyzer and widget tests on every pull request.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2194560"/>
            <a:ext cx="4114800" cy="3931920"/>
          </a:xfrm>
          <a:prstGeom prst="roundRect">
            <a:avLst/>
          </a:prstGeom>
          <a:solidFill>
            <a:srgbClr val="121A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Verification Scorecard</a:t>
            </a:r>
          </a:p>
          <a:p>
            <a:pPr>
              <a:spcBef>
                <a:spcPts val="1200"/>
              </a:spcBef>
              <a:defRPr sz="1300" b="1">
                <a:solidFill>
                  <a:srgbClr val="2DD4BF"/>
                </a:solidFill>
              </a:defRPr>
            </a:pPr>
            <a:r>
              <a:t>100% — Flutter Analyze Clean</a:t>
            </a:r>
          </a:p>
          <a:p>
            <a:pPr>
              <a:spcBef>
                <a:spcPts val="1200"/>
              </a:spcBef>
              <a:defRPr sz="1300" b="1">
                <a:solidFill>
                  <a:srgbClr val="F59E0B"/>
                </a:solidFill>
              </a:defRPr>
            </a:pPr>
            <a:r>
              <a:t>11 / 11 — Widget &amp; Unit Tests Passing</a:t>
            </a:r>
          </a:p>
          <a:p>
            <a:pPr>
              <a:spcBef>
                <a:spcPts val="1200"/>
              </a:spcBef>
              <a:defRPr sz="1300" b="1">
                <a:solidFill>
                  <a:srgbClr val="6366F1"/>
                </a:solidFill>
              </a:defRPr>
            </a:pPr>
            <a:r>
              <a:t>6 / 6 — Seed Audio Files E2E Verified</a:t>
            </a:r>
          </a:p>
          <a:p>
            <a:pPr>
              <a:spcBef>
                <a:spcPts val="1200"/>
              </a:spcBef>
              <a:defRPr sz="1300" b="1">
                <a:solidFill>
                  <a:srgbClr val="10B981"/>
                </a:solidFill>
              </a:defRPr>
            </a:pPr>
            <a:r>
              <a:t>v1.4.0 — Release APK Ready for Install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871216" cy="347472"/>
          </a:xfrm>
          <a:prstGeom prst="roundRect">
            <a:avLst/>
          </a:prstGeom>
          <a:solidFill>
            <a:srgbClr val="19193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 tIns="36576" bIns="36576"/>
          <a:lstStyle/>
          <a:p>
            <a:pPr algn="ctr">
              <a:defRPr sz="1000" b="1">
                <a:solidFill>
                  <a:srgbClr val="6366F1"/>
                </a:solidFill>
              </a:defRPr>
            </a:pPr>
            <a:r>
              <a:t>SUSTAINABLE MONETIZATION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High-Margin B2B FinTech 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100% free for micro-businesses. Monetization is driven by institutional lenders and wholesale distributors.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3383280" cy="2926080"/>
          </a:xfrm>
          <a:prstGeom prst="roundRect">
            <a:avLst/>
          </a:prstGeom>
          <a:solidFill>
            <a:srgbClr val="121A2A"/>
          </a:solidFill>
          <a:ln w="15240">
            <a:solidFill>
              <a:srgbClr val="1E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000" b="1">
                <a:solidFill>
                  <a:srgbClr val="2DD4BF"/>
                </a:solidFill>
              </a:defRPr>
            </a:pPr>
            <a:r>
              <a:t>SHOPKEEPER LAYER</a:t>
            </a:r>
          </a:p>
          <a:p>
            <a:pPr>
              <a:spcBef>
                <a:spcPts val="400"/>
              </a:spcBef>
              <a:defRPr sz="1600" b="1">
                <a:solidFill>
                  <a:srgbClr val="F8FAFC"/>
                </a:solidFill>
              </a:defRPr>
            </a:pPr>
            <a:r>
              <a:t>Always Free App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Zero subscription fees for shopkeepers. Removes all friction to achieve viral word-of-mouth adoption across bazaar trade associations.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194560"/>
            <a:ext cx="3383280" cy="2926080"/>
          </a:xfrm>
          <a:prstGeom prst="roundRect">
            <a:avLst/>
          </a:prstGeom>
          <a:solidFill>
            <a:srgbClr val="121A2A"/>
          </a:solidFill>
          <a:ln w="15240">
            <a:solidFill>
              <a:srgbClr val="1E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LENDER B2B API</a:t>
            </a:r>
          </a:p>
          <a:p>
            <a:pPr>
              <a:spcBef>
                <a:spcPts val="400"/>
              </a:spcBef>
              <a:defRPr sz="1600" b="1">
                <a:solidFill>
                  <a:srgbClr val="F8FAFC"/>
                </a:solidFill>
              </a:defRPr>
            </a:pPr>
            <a:r>
              <a:t>Credit Origination Fees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Microfinance Banks (Mobilink Bank, Akhuwat, Kashf) pay a query fee per Evidence Profile plus a 1.5% - 2.5% origination fee upon loan disbursement.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194560"/>
            <a:ext cx="3383280" cy="2926080"/>
          </a:xfrm>
          <a:prstGeom prst="roundRect">
            <a:avLst/>
          </a:prstGeom>
          <a:solidFill>
            <a:srgbClr val="121A2A"/>
          </a:solidFill>
          <a:ln w="15240">
            <a:solidFill>
              <a:srgbClr val="1E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000" b="1">
                <a:solidFill>
                  <a:srgbClr val="6366F1"/>
                </a:solidFill>
              </a:defRPr>
            </a:pPr>
            <a:r>
              <a:t>SUPPLY CHAIN FINANCING</a:t>
            </a:r>
          </a:p>
          <a:p>
            <a:pPr>
              <a:spcBef>
                <a:spcPts val="400"/>
              </a:spcBef>
              <a:defRPr sz="1600" b="1">
                <a:solidFill>
                  <a:srgbClr val="F8FAFC"/>
                </a:solidFill>
              </a:defRPr>
            </a:pPr>
            <a:r>
              <a:t>FMCG Bulk Credit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FMCG distributors (Unilever, Nestlé, Engro) utilize stock purchase evidence to underwrite 7-day inventory credit directly inside the app.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94960"/>
            <a:ext cx="10698480" cy="914400"/>
          </a:xfrm>
          <a:prstGeom prst="roundRect">
            <a:avLst/>
          </a:prstGeom>
          <a:solidFill>
            <a:srgbClr val="121A2A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100" b="1">
                <a:solidFill>
                  <a:srgbClr val="2DD4BF"/>
                </a:solidFill>
              </a:defRPr>
            </a:pPr>
            <a:r>
              <a:t>GO-TO-MARKET FLYWHEEL: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Wholesale Mandi Onboarding → Voice Recording Daily Habit → First 30-Day Milestone → Instant Loan Qualification  |  $180B+ Addressable Market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865376" cy="347472"/>
          </a:xfrm>
          <a:prstGeom prst="roundRect">
            <a:avLst/>
          </a:prstGeom>
          <a:solidFill>
            <a:srgbClr val="0D6F69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 tIns="36576" bIns="36576"/>
          <a:lstStyle/>
          <a:p>
            <a:pPr algn="ctr">
              <a:defRPr sz="1000" b="1">
                <a:solidFill>
                  <a:srgbClr val="2DD4BF"/>
                </a:solidFill>
              </a:defRPr>
            </a:pPr>
            <a:r>
              <a:t>FUTURE HORIZON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Strategic Product &amp; Expansion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Scaling from working proof-of-concept to national financial inclusion infrastructure.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3383280" cy="3931920"/>
          </a:xfrm>
          <a:prstGeom prst="roundRect">
            <a:avLst/>
          </a:prstGeom>
          <a:solidFill>
            <a:srgbClr val="121A2A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000" b="1">
                <a:solidFill>
                  <a:srgbClr val="2DD4BF"/>
                </a:solidFill>
              </a:defRPr>
            </a:pPr>
            <a:r>
              <a:t>PHASE 1 (Current · Q3 2026)</a:t>
            </a:r>
          </a:p>
          <a:p>
            <a:pPr>
              <a:spcBef>
                <a:spcPts val="400"/>
              </a:spcBef>
              <a:defRPr sz="1600" b="1">
                <a:solidFill>
                  <a:srgbClr val="F8FAFC"/>
                </a:solidFill>
              </a:defRPr>
            </a:pPr>
            <a:r>
              <a:t>Offline-First Voice Sync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Local encrypted SQLite audio queue for zero-connectivity operation.</a:t>
            </a:r>
            <a:br/>
            <a:r>
              <a:t>• Background auto-sync when cellular signal returns.</a:t>
            </a:r>
            <a:br/>
            <a:r>
              <a:t>• Production deployment on resilient auto-scaling cloud cluster.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194560"/>
            <a:ext cx="3383280" cy="3931920"/>
          </a:xfrm>
          <a:prstGeom prst="roundRect">
            <a:avLst/>
          </a:prstGeom>
          <a:solidFill>
            <a:srgbClr val="121A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PHASE 2 (Q4 2026)</a:t>
            </a:r>
          </a:p>
          <a:p>
            <a:pPr>
              <a:spcBef>
                <a:spcPts val="400"/>
              </a:spcBef>
              <a:defRPr sz="1600" b="1">
                <a:solidFill>
                  <a:srgbClr val="F8FAFC"/>
                </a:solidFill>
              </a:defRPr>
            </a:pPr>
            <a:r>
              <a:t>Multi-Dialect Expansion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Fine-tuned Whisper models for regional bazaar dialects (Pashto, Sindhi, Punjabi, Saraiki).</a:t>
            </a:r>
            <a:br/>
            <a:r>
              <a:t>• Voice-based WhatsApp bot integration for zero-install recording.</a:t>
            </a:r>
            <a:br/>
            <a:r>
              <a:t>• Automated customer ledger reminders (Udhaar recovery).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194560"/>
            <a:ext cx="3383280" cy="3931920"/>
          </a:xfrm>
          <a:prstGeom prst="roundRect">
            <a:avLst/>
          </a:prstGeom>
          <a:solidFill>
            <a:srgbClr val="121A2A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000" b="1">
                <a:solidFill>
                  <a:srgbClr val="6366F1"/>
                </a:solidFill>
              </a:defRPr>
            </a:pPr>
            <a:r>
              <a:t>PHASE 3 (Q1 2027)</a:t>
            </a:r>
          </a:p>
          <a:p>
            <a:pPr>
              <a:spcBef>
                <a:spcPts val="400"/>
              </a:spcBef>
              <a:defRPr sz="1600" b="1">
                <a:solidFill>
                  <a:srgbClr val="F8FAFC"/>
                </a:solidFill>
              </a:defRPr>
            </a:pPr>
            <a:r>
              <a:t>Raast Payment Rails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Direct integration with State Bank of Pakistan's Raast P2M QR rails.</a:t>
            </a:r>
            <a:br/>
            <a:r>
              <a:t>• One-click digital loan acceptance and automatic daily micropayments.</a:t>
            </a:r>
            <a:br/>
            <a:r>
              <a:t>• Formal credit bureau data ingestion (1Link / SBP ECIB).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120640" y="1097280"/>
            <a:ext cx="1463040" cy="347472"/>
          </a:xfrm>
          <a:prstGeom prst="roundRect">
            <a:avLst/>
          </a:prstGeom>
          <a:solidFill>
            <a:srgbClr val="0D6F69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 tIns="36576" bIns="36576"/>
          <a:lstStyle/>
          <a:p>
            <a:pPr algn="ctr">
              <a:defRPr sz="1000" b="1">
                <a:solidFill>
                  <a:srgbClr val="2DD4BF"/>
                </a:solidFill>
              </a:defRPr>
            </a:pPr>
            <a:r>
              <a:t>THE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Arial"/>
              </a:defRPr>
            </a:pPr>
            <a:r>
              <a:t>Dukaan Aapki, Hisaab Karobar Saathi Ka.</a:t>
            </a:r>
          </a:p>
          <a:p>
            <a:pPr algn="ctr">
              <a:spcBef>
                <a:spcPts val="1000"/>
              </a:spcBef>
              <a:defRPr sz="2800">
                <a:solidFill>
                  <a:srgbClr val="2DD4BF"/>
                </a:solidFill>
              </a:defRPr>
            </a:pPr>
            <a:r>
              <a:t>دکان آپ کی، حساب کاروبار ساتھی کا</a:t>
            </a:r>
          </a:p>
          <a:p>
            <a:pPr algn="ctr">
              <a:spcBef>
                <a:spcPts val="1600"/>
              </a:spcBef>
              <a:defRPr sz="1600">
                <a:solidFill>
                  <a:srgbClr val="94A3B8"/>
                </a:solidFill>
              </a:defRPr>
            </a:pPr>
            <a:r>
              <a:t>Empowering 5 million hardworking micro-entrepreneurs to be seen, verified, and funded — using nothing more than their daily voice.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4114800"/>
            <a:ext cx="8534095" cy="1645920"/>
          </a:xfrm>
          <a:prstGeom prst="roundRect">
            <a:avLst/>
          </a:prstGeom>
          <a:solidFill>
            <a:srgbClr val="121A2A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 lIns="274320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🚀 Explore the Live Project &amp; Resources:</a:t>
            </a:r>
          </a:p>
          <a:p>
            <a:pPr algn="ctr">
              <a:spcBef>
                <a:spcPts val="800"/>
              </a:spcBef>
              <a:defRPr sz="1200">
                <a:solidFill>
                  <a:srgbClr val="2DD4BF"/>
                </a:solidFill>
              </a:defRPr>
            </a:pPr>
            <a:r>
              <a:t>• Download APK v1.4.0:  github.com/ahsankhizar5/karobar-saathi/releases</a:t>
            </a:r>
            <a:br/>
            <a:r>
              <a:t>• Live API &amp; Status Page:  ahsankhizar5.github.io/karobar-saathi</a:t>
            </a:r>
            <a:br/>
            <a:r>
              <a:t>• Live Production Backend:  karobar-saathi.onrender.com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